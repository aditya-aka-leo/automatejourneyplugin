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AF0"/>
                </a:solidFill>
              </a:defRPr>
            </a:pPr>
            <a:r>
              <a:t>System Design &amp; Data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</a:defRPr>
            </a:pPr>
            <a:r>
              <a:t>Autotest — AI E2E Test Generator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09AF0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</a:defRPr>
            </a:pPr>
            <a:r>
              <a:t>Centralized backend + Lightweight Chrome extension = Zero per-machine setup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554480"/>
            <a:ext cx="3931920" cy="4754880"/>
          </a:xfrm>
          <a:prstGeom prst="roundRect">
            <a:avLst/>
          </a:prstGeom>
          <a:solidFill>
            <a:srgbClr val="20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AF0"/>
                </a:solidFill>
              </a:defRPr>
            </a:pPr>
            <a:r>
              <a:t>Chrome Extension (MV3)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</a:defRPr>
            </a:pPr>
            <a:r>
              <a:t>Lightweight ~200KB • No dependencies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3474720" cy="548640"/>
          </a:xfrm>
          <a:prstGeom prst="roundRect">
            <a:avLst/>
          </a:prstGeom>
          <a:solidFill>
            <a:srgbClr val="2A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AF0"/>
                </a:solidFill>
              </a:defRPr>
            </a:pPr>
            <a:r>
              <a:t>Popup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Record, generate, run, view reports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82112"/>
            <a:ext cx="3474720" cy="548640"/>
          </a:xfrm>
          <a:prstGeom prst="roundRect">
            <a:avLst/>
          </a:prstGeom>
          <a:solidFill>
            <a:srgbClr val="2A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2783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AF0"/>
                </a:solidFill>
              </a:defRPr>
            </a:pPr>
            <a:r>
              <a:t>Service Worker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5643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Message hub, API proxy, state mgmt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95344"/>
            <a:ext cx="3474720" cy="548640"/>
          </a:xfrm>
          <a:prstGeom prst="roundRect">
            <a:avLst/>
          </a:prstGeom>
          <a:solidFill>
            <a:srgbClr val="2A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41064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AF0"/>
                </a:solidFill>
              </a:defRPr>
            </a:pPr>
            <a:r>
              <a:t>Content Scripts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6966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DOM recording, step replay, HUD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08576"/>
            <a:ext cx="3474720" cy="548640"/>
          </a:xfrm>
          <a:prstGeom prst="roundRect">
            <a:avLst/>
          </a:prstGeom>
          <a:solidFill>
            <a:srgbClr val="2A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65429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AF0"/>
                </a:solidFill>
              </a:defRPr>
            </a:pPr>
            <a:r>
              <a:t>Options Page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8289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Settings, environments, connections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21808"/>
            <a:ext cx="3474720" cy="548640"/>
          </a:xfrm>
          <a:prstGeom prst="roundRect">
            <a:avLst/>
          </a:prstGeom>
          <a:solidFill>
            <a:srgbClr val="2A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675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AF0"/>
                </a:solidFill>
              </a:defRPr>
            </a:pPr>
            <a:r>
              <a:t>Shared Modules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9612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Storage, converters, export, cache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200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6B35"/>
                </a:solidFill>
              </a:defRPr>
            </a:pPr>
            <a:r>
              <a:t>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657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</a:defRPr>
            </a:pPr>
            <a:r>
              <a:t>REST 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94960" y="1554480"/>
            <a:ext cx="3017520" cy="2194560"/>
          </a:xfrm>
          <a:prstGeom prst="roundRect">
            <a:avLst/>
          </a:prstGeom>
          <a:solidFill>
            <a:srgbClr val="20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0" y="16459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7B"/>
                </a:solidFill>
              </a:defRPr>
            </a:pPr>
            <a:r>
              <a:t>AI Generator :8002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21945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• Claude CLI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24871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• NL → Playwright .spec.ts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277977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• Playwright MCP browser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307238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• Test management (CRUD)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364991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• OAuth authentication flow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0" y="4023360"/>
            <a:ext cx="3017520" cy="2286000"/>
          </a:xfrm>
          <a:prstGeom prst="roundRect">
            <a:avLst/>
          </a:prstGeom>
          <a:solidFill>
            <a:srgbClr val="20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0" y="4114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</a:defRPr>
            </a:pPr>
            <a:r>
              <a:t>Playwright Runner :8001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46634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• Headless browser execution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49560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• CDP live screencast (SSE)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5248655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• Step progress tracking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554126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• Trace, video, HAR, screenshots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583387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• Multi-browser parallel runs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0" y="1554480"/>
            <a:ext cx="3200400" cy="4754880"/>
          </a:xfrm>
          <a:prstGeom prst="roundRect">
            <a:avLst/>
          </a:prstGeom>
          <a:solidFill>
            <a:srgbClr val="15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9680" y="1645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CFF"/>
                </a:solidFill>
              </a:defRPr>
            </a:pPr>
            <a:r>
              <a:t>Docker Compose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20116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</a:defRPr>
            </a:pPr>
            <a:r>
              <a:t>Centralized Server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24688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CFF"/>
                </a:solidFill>
              </a:defRPr>
            </a:pPr>
            <a:r>
              <a:t>✓ Shared Network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272491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autotest-network (bridge)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30632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CFF"/>
                </a:solidFill>
              </a:defRPr>
            </a:pPr>
            <a:r>
              <a:t>✓ Shared Volume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331927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generated-tests (spec files)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36576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CFF"/>
                </a:solidFill>
              </a:defRPr>
            </a:pPr>
            <a:r>
              <a:t>✓ Artifacts Volume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39136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traces, video, HAR, screenshots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42519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CFF"/>
                </a:solidFill>
              </a:defRPr>
            </a:pPr>
            <a:r>
              <a:t>✓ Health Checks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4507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30s interval, auto-restart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0" y="4846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CFF"/>
                </a:solidFill>
              </a:defRPr>
            </a:pPr>
            <a:r>
              <a:t>✓ Single Command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510235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docker compose up --build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54406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CFF"/>
                </a:solidFill>
              </a:defRPr>
            </a:pPr>
            <a:r>
              <a:t>✓ Serves Entire Team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569671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No per-machine setup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0C97B"/>
                </a:solidFill>
              </a:defRPr>
            </a:pPr>
            <a:r>
              <a:t>Data Flows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3749039" cy="530352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9AF0"/>
                </a:solidFill>
              </a:defRPr>
            </a:pPr>
            <a:r>
              <a:t>AI Test Generation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737360"/>
            <a:ext cx="320040" cy="320040"/>
          </a:xfrm>
          <a:prstGeom prst="ellipse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55648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User types plain English prompt in extension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423160"/>
            <a:ext cx="320040" cy="320040"/>
          </a:xfrm>
          <a:prstGeom prst="ellipse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41448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Service worker POSTs to Generator :8002/generate-test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108960"/>
            <a:ext cx="320040" cy="320040"/>
          </a:xfrm>
          <a:prstGeom prst="ellipse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27248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Claude CLI + Playwright MCP navigates to URL, inspects page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94760"/>
            <a:ext cx="320040" cy="320040"/>
          </a:xfrm>
          <a:prstGeom prst="ellipse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13048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Generates complete .spec.ts with real selectors &amp; assertions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80560"/>
            <a:ext cx="320040" cy="320040"/>
          </a:xfrm>
          <a:prstGeom prst="ellipse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98848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Extension displays generated test code for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097280"/>
            <a:ext cx="3749039" cy="530352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6B35"/>
                </a:solidFill>
              </a:defRPr>
            </a:pPr>
            <a:r>
              <a:t>Headless Execution</a:t>
            </a:r>
          </a:p>
        </p:txBody>
      </p:sp>
      <p:sp>
        <p:nvSpPr>
          <p:cNvPr id="17" name="Oval 16"/>
          <p:cNvSpPr/>
          <p:nvPr/>
        </p:nvSpPr>
        <p:spPr>
          <a:xfrm>
            <a:off x="4480560" y="1737360"/>
            <a:ext cx="320040" cy="3200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1755648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User clicks Run Headless → unique runId generated</a:t>
            </a:r>
          </a:p>
        </p:txBody>
      </p:sp>
      <p:sp>
        <p:nvSpPr>
          <p:cNvPr id="19" name="Oval 18"/>
          <p:cNvSpPr/>
          <p:nvPr/>
        </p:nvSpPr>
        <p:spPr>
          <a:xfrm>
            <a:off x="4480560" y="2423160"/>
            <a:ext cx="320040" cy="3200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441448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Service worker POSTs recording + config to Runner :8001/run</a:t>
            </a:r>
          </a:p>
        </p:txBody>
      </p:sp>
      <p:sp>
        <p:nvSpPr>
          <p:cNvPr id="21" name="Oval 20"/>
          <p:cNvSpPr/>
          <p:nvPr/>
        </p:nvSpPr>
        <p:spPr>
          <a:xfrm>
            <a:off x="4480560" y="3108960"/>
            <a:ext cx="320040" cy="3200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3127248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Runner launches headless browser, starts CDP screencast</a:t>
            </a:r>
          </a:p>
        </p:txBody>
      </p:sp>
      <p:sp>
        <p:nvSpPr>
          <p:cNvPr id="23" name="Oval 22"/>
          <p:cNvSpPr/>
          <p:nvPr/>
        </p:nvSpPr>
        <p:spPr>
          <a:xfrm>
            <a:off x="4480560" y="3794760"/>
            <a:ext cx="320040" cy="3200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813048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SSE stream sends live frames → displayed in extension</a:t>
            </a:r>
          </a:p>
        </p:txBody>
      </p:sp>
      <p:sp>
        <p:nvSpPr>
          <p:cNvPr id="25" name="Oval 24"/>
          <p:cNvSpPr/>
          <p:nvPr/>
        </p:nvSpPr>
        <p:spPr>
          <a:xfrm>
            <a:off x="4480560" y="4480560"/>
            <a:ext cx="320040" cy="3200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4498848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Progress polling every 800ms → step counts update live</a:t>
            </a:r>
          </a:p>
        </p:txBody>
      </p:sp>
      <p:sp>
        <p:nvSpPr>
          <p:cNvPr id="27" name="Oval 26"/>
          <p:cNvSpPr/>
          <p:nvPr/>
        </p:nvSpPr>
        <p:spPr>
          <a:xfrm>
            <a:off x="4480560" y="5166360"/>
            <a:ext cx="320040" cy="3200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5184648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Report + artifacts returned on completion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1097280"/>
            <a:ext cx="3749039" cy="530352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C97B"/>
                </a:solidFill>
              </a:defRPr>
            </a:pPr>
            <a:r>
              <a:t>Recording &amp; Replay</a:t>
            </a:r>
          </a:p>
        </p:txBody>
      </p:sp>
      <p:sp>
        <p:nvSpPr>
          <p:cNvPr id="31" name="Oval 30"/>
          <p:cNvSpPr/>
          <p:nvPr/>
        </p:nvSpPr>
        <p:spPr>
          <a:xfrm>
            <a:off x="8412480" y="1737360"/>
            <a:ext cx="320040" cy="32004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1755648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User clicks Start Recording → content.js captures DOM events</a:t>
            </a:r>
          </a:p>
        </p:txBody>
      </p:sp>
      <p:sp>
        <p:nvSpPr>
          <p:cNvPr id="33" name="Oval 32"/>
          <p:cNvSpPr/>
          <p:nvPr/>
        </p:nvSpPr>
        <p:spPr>
          <a:xfrm>
            <a:off x="8412480" y="2423160"/>
            <a:ext cx="320040" cy="32004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2441448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Clicks, inputs, navigation stored in chrome.storage.local</a:t>
            </a:r>
          </a:p>
        </p:txBody>
      </p:sp>
      <p:sp>
        <p:nvSpPr>
          <p:cNvPr id="35" name="Oval 34"/>
          <p:cNvSpPr/>
          <p:nvPr/>
        </p:nvSpPr>
        <p:spPr>
          <a:xfrm>
            <a:off x="8412480" y="3108960"/>
            <a:ext cx="320040" cy="32004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3127248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Replay: service worker forwards steps to content script</a:t>
            </a:r>
          </a:p>
        </p:txBody>
      </p:sp>
      <p:sp>
        <p:nvSpPr>
          <p:cNvPr id="37" name="Oval 36"/>
          <p:cNvSpPr/>
          <p:nvPr/>
        </p:nvSpPr>
        <p:spPr>
          <a:xfrm>
            <a:off x="8412480" y="3794760"/>
            <a:ext cx="320040" cy="32004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3813048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Content script executes each step with HUD overlay</a:t>
            </a:r>
          </a:p>
        </p:txBody>
      </p:sp>
      <p:sp>
        <p:nvSpPr>
          <p:cNvPr id="39" name="Oval 38"/>
          <p:cNvSpPr/>
          <p:nvPr/>
        </p:nvSpPr>
        <p:spPr>
          <a:xfrm>
            <a:off x="8412480" y="4480560"/>
            <a:ext cx="320040" cy="32004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4498848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Self-healing tries fallback selectors on failure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6B35"/>
                </a:solidFill>
              </a:defRPr>
            </a:pPr>
            <a:r>
              <a:t>API Endpoints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5669280" cy="5303520"/>
          </a:xfrm>
          <a:prstGeom prst="roundRect">
            <a:avLst/>
          </a:prstGeom>
          <a:solidFill>
            <a:srgbClr val="20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7B"/>
                </a:solidFill>
              </a:defRPr>
            </a:pPr>
            <a:r>
              <a:t>Generator :8002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</a:defRPr>
            </a:pPr>
            <a:r>
              <a:t>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91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/generate-test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691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Generate .spec.ts from NL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48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</a:defRPr>
            </a:pPr>
            <a: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848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/cancel-generation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08483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Cancel in-flight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7802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</a:defRPr>
            </a:pPr>
            <a: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780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/fix-step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47802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AI-assisted step repair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712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</a:defRPr>
            </a:pPr>
            <a: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8712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/query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87121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Simple Claude CLI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6440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B"/>
                </a:solidFill>
              </a:defRPr>
            </a:pPr>
            <a:r>
              <a:t>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2644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/tests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2644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List all generated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57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B"/>
                </a:solidFill>
              </a:defRPr>
            </a:pPr>
            <a:r>
              <a:t>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657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/tests/{id}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6576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Get test code + metadata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050791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4D4D"/>
                </a:solidFill>
              </a:defRPr>
            </a:pPr>
            <a:r>
              <a:t>DELETE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05079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/tests/{id}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05079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Delete a generated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443983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</a:defRPr>
            </a:pPr>
            <a:r>
              <a:t>POST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44398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/auth/login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44398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Start Claude OAuth 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83717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</a:defRPr>
            </a:pPr>
            <a:r>
              <a:t>POST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8371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/auth/complete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83717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Complete OAuth login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2303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B"/>
                </a:solidFill>
              </a:defRPr>
            </a:pPr>
            <a:r>
              <a:t>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2303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/auth/status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52303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Check auth 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6235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B"/>
                </a:solidFill>
              </a:defRPr>
            </a:pPr>
            <a:r>
              <a:t>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623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/health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5623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Health check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1097280"/>
            <a:ext cx="5669280" cy="5303520"/>
          </a:xfrm>
          <a:prstGeom prst="roundRect">
            <a:avLst/>
          </a:prstGeom>
          <a:solidFill>
            <a:srgbClr val="20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</a:defRPr>
            </a:pPr>
            <a:r>
              <a:t>Runner :8001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16916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</a:defRPr>
            </a:pPr>
            <a:r>
              <a:t>POST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/run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1691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Execute recording headlessly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20848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</a:defRPr>
            </a:pPr>
            <a:r>
              <a:t>POST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20848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/run-parallel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20848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Parallel multi-test execution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247802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</a:defRPr>
            </a:pPr>
            <a:r>
              <a:t>POST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24780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/run-spec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247802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Execute .spec.ts file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28712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</a:defRPr>
            </a:pPr>
            <a:r>
              <a:t>POST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28712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/api-test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287121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API testing (no browser)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326440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B"/>
                </a:solidFill>
              </a:defRPr>
            </a:pPr>
            <a:r>
              <a:t>GET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32644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/progress/{run_id}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2644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Poll step progress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3657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B"/>
                </a:solidFill>
              </a:defRPr>
            </a:pPr>
            <a:r>
              <a:t>GET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/live/{run_id}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0" y="3657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SSE screencast stream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4050791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B"/>
                </a:solidFill>
              </a:defRPr>
            </a:pPr>
            <a:r>
              <a:t>GET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0" y="405079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/trace/{run_id}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01200" y="4050791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Download trace zip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0" y="4443983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B"/>
                </a:solidFill>
              </a:defRPr>
            </a:pPr>
            <a:r>
              <a:t>GET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0" y="444398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/video/{run_id}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01200" y="444398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Download video recording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0" y="483717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B"/>
                </a:solidFill>
              </a:defRPr>
            </a:pPr>
            <a:r>
              <a:t>GET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0" y="48371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/har/{run_id}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01200" y="483717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Download HAR network log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0" y="52303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B"/>
                </a:solidFill>
              </a:defRPr>
            </a:pPr>
            <a:r>
              <a:t>GET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0" y="52303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/screenshot/{id}/{f}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01200" y="52303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Download step screenshot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3680" y="56235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B"/>
                </a:solidFill>
              </a:defRPr>
            </a:pPr>
            <a:r>
              <a:t>GET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1520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/health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01200" y="5623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Health check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A85CFF"/>
                </a:solidFill>
              </a:defRPr>
            </a:pPr>
            <a:r>
              <a:t>Supported Step Types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2788920" cy="50292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9AF0"/>
                </a:solidFill>
              </a:defRPr>
            </a:pPr>
            <a:r>
              <a:t>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• click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76272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•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2374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•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712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• submit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1868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• hover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• scroll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13632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• select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6110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•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0857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• upload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5604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• drag_drop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0352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• navigation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1188720"/>
            <a:ext cx="2926080" cy="50292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1280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C97B"/>
                </a:solidFill>
              </a:defRPr>
            </a:pPr>
            <a:r>
              <a:t>Assertions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1828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• assert_exists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1762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• assert_visible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2374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• assert_hidden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87121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• assert_text_*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2186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• assert_attr_*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566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• assert_url_*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9136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• assert_checked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2611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• assert_disabled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60857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• assert_enabled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1188720"/>
            <a:ext cx="2788920" cy="50292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12801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6B35"/>
                </a:solidFill>
              </a:defRPr>
            </a:pPr>
            <a:r>
              <a:t>Waits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18288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• wait_delay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2176272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• wait_for_url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252374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• wait_for_selector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81160" y="1188720"/>
            <a:ext cx="2788920" cy="50292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64040" y="12801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A85CFF"/>
                </a:solidFill>
              </a:defRPr>
            </a:pPr>
            <a:r>
              <a:t>Control 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18288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• if_exists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2176272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• end_if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